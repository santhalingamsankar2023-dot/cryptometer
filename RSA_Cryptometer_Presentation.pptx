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0" y="1280160"/>
            <a:ext cx="3749040" cy="411480"/>
          </a:xfrm>
          <a:prstGeom prst="roundRect">
            <a:avLst>
              <a:gd name="adj" fmla="val 44444"/>
            </a:avLst>
          </a:prstGeom>
          <a:solidFill>
            <a:srgbClr val="1E1B4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0" y="1280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CRYPTOGRAPHY &amp; NETWORK SECURITY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 Cryptometer &amp; Security Workbench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45920" y="301752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Asymmetric Cryptosystem, Shannon Entropy Metering, and Real-Time Strength Evaluation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463040" y="4023360"/>
            <a:ext cx="2834640" cy="1097280"/>
          </a:xfrm>
          <a:prstGeom prst="roundRect">
            <a:avLst>
              <a:gd name="adj" fmla="val 12500"/>
            </a:avLst>
          </a:prstGeom>
          <a:solidFill>
            <a:srgbClr val="161F30"/>
          </a:solidFill>
          <a:ln w="12700">
            <a:solidFill>
              <a:srgbClr val="2A37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4160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Dual-Mode Engine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4526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BigInt Math + WebCrypto 4096-bit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4023360"/>
            <a:ext cx="2834640" cy="1097280"/>
          </a:xfrm>
          <a:prstGeom prst="roundRect">
            <a:avLst>
              <a:gd name="adj" fmla="val 12500"/>
            </a:avLst>
          </a:prstGeom>
          <a:solidFill>
            <a:srgbClr val="161F30"/>
          </a:solidFill>
          <a:ln w="12700">
            <a:solidFill>
              <a:srgbClr val="2A37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4160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Cryptometer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4526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Shannon Entropy &amp; NIST SP 800-57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63840" y="4023360"/>
            <a:ext cx="2834640" cy="1097280"/>
          </a:xfrm>
          <a:prstGeom prst="roundRect">
            <a:avLst>
              <a:gd name="adj" fmla="val 12500"/>
            </a:avLst>
          </a:prstGeom>
          <a:solidFill>
            <a:srgbClr val="161F30"/>
          </a:solidFill>
          <a:ln w="12700">
            <a:solidFill>
              <a:srgbClr val="2A37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4160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Architecture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0" y="4526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 Envelope Encryption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Project: React 19 • TypeScript • WebCrypto API • Vite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MOTIVATION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Project Objectives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the gap between theoretical discrete mathematics and production cryptography.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 Cryptometer • Cryptography &amp; Network Security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161F30"/>
          </a:solidFill>
          <a:ln w="12700">
            <a:solidFill>
              <a:srgbClr val="4B1E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Educational &amp; Operational Challenges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Mathematical Disconnect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Equations like m^e mod n are taught statically without byte-by-byte visualization.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Key Length Selection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rarely inspect the factoring complexity (GNFS) or quantum vulnerability of key sizes.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Performance Bottlenecks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Encrypting large files directly with asymmetric RSA leads to severe CPU thrashing.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161F30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Goals &amp; Proposed Solution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Dual-Engine Interactive Workbench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custom prime arithmetic for learners and hardware WebCrypto for engineers.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Cryptometer Engine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Shannon entropy meter, NIST SP 800-57 grading, and sub-ms benchmarks.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Hybrid Cryptosystem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the Digital Envelope standard combining AES-256-GCM and RSA-OAEP.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THEORY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Foundations of RSA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upon Euler's Totient Theorem and the computational intractability of prime factorization.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 Cryptometer • Cryptography &amp; Network Security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161F30"/>
          </a:solidFill>
          <a:ln w="12700">
            <a:solidFill>
              <a:srgbClr val="2A37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Key Generation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 distinct primes: p and q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Modulus: n = p × q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Euler Totient: φ(n) = (p - 1)(q - 1)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 e: 1 &lt; e &lt; φ(n), gcd(e, φ(n)) = 1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 d: d ≡ e⁻¹ (mod φ(n))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Key: (e, n)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Key: (d, n)
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161F30"/>
          </a:solidFill>
          <a:ln w="12700">
            <a:solidFill>
              <a:srgbClr val="2A37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Encryption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33172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Plaintext Message: m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Constraint: 0 ≤ m &lt; n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Ciphertext computation: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mᵉ mod n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Chunking: Text is split into numeric blocks strictly smaller than modulus n.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serialized to Hex &amp; Base64.
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161F30"/>
          </a:solidFill>
          <a:ln w="12700">
            <a:solidFill>
              <a:srgbClr val="2A37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Decryption &amp; Proof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75320" y="233172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Ciphertext block: c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Decryption formula: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cᵈ mod n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Euler Proof: (mᵉ)ᵈ ≡ m^(ed) (mod n)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Since ed ≡ 1 (mod φ(n)):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m^(1 + k·φ(n)) ≡ m · (m^φ(n))ᵏ ≡ m (mod n)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Reconstructed into original string.
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architecture decoupling arithmetic simulation, hardware cryptographic primitives, and visual audit gauges.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 Cryptometer • Cryptography &amp; Network Security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07040" cy="960120"/>
          </a:xfrm>
          <a:prstGeom prst="roundRect">
            <a:avLst>
              <a:gd name="adj" fmla="val 9524"/>
            </a:avLst>
          </a:prstGeom>
          <a:solidFill>
            <a:srgbClr val="161F30"/>
          </a:solidFill>
          <a:ln w="12700">
            <a:solidFill>
              <a:srgbClr val="2A37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Key Studio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0" y="21031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BigInt educational keys with full parameter transparency or hardware-backed WebCrypto keys with PEM export.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778240" y="192024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Arbitrary BigInt / WebCrypto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10607040" cy="960120"/>
          </a:xfrm>
          <a:prstGeom prst="roundRect">
            <a:avLst>
              <a:gd name="adj" fmla="val 9524"/>
            </a:avLst>
          </a:prstGeom>
          <a:solidFill>
            <a:srgbClr val="161F30"/>
          </a:solidFill>
          <a:ln w="12700">
            <a:solidFill>
              <a:srgbClr val="2A37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971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 Execution Pipeline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77440" y="32461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Multi-chunk ASCII/UTF-8 byte encoder performing fast modular exponentiation with intermediate step telemetry.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78240" y="306324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m^e mod 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10607040" cy="960120"/>
          </a:xfrm>
          <a:prstGeom prst="roundRect">
            <a:avLst>
              <a:gd name="adj" fmla="val 9524"/>
            </a:avLst>
          </a:prstGeom>
          <a:solidFill>
            <a:srgbClr val="161F30"/>
          </a:solidFill>
          <a:ln w="12700">
            <a:solidFill>
              <a:srgbClr val="2A37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114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77440" y="4069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Cryptometer Metrics Engine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77440" y="43891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 evaluators calculating Shannon entropy, NIST security ratings, factoring complexity, and quantum risk.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778240" y="420624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0" y="4206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NIST SP 800-57 / Entropy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5074920"/>
            <a:ext cx="10607040" cy="960120"/>
          </a:xfrm>
          <a:prstGeom prst="roundRect">
            <a:avLst>
              <a:gd name="adj" fmla="val 9524"/>
            </a:avLst>
          </a:prstGeom>
          <a:solidFill>
            <a:srgbClr val="161F30"/>
          </a:solidFill>
          <a:ln w="12700">
            <a:solidFill>
              <a:srgbClr val="2A37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257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5212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Cryptosystem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377440" y="55321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Envelope orchestrator combining symmetric AES-256-GCM bulk encryption with asymmetric RSA session key wrapping.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778240" y="534924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0" y="5349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AES-256 + RSA-OAEP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INNOVATION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Cryptometer: Real-Time Security Gauges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measurement of cryptographic strength, information diffusion, and algorithmic complexity.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 Cryptometer • Cryptography &amp; Network Security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161F30"/>
          </a:solidFill>
          <a:ln w="12700">
            <a:solidFill>
              <a:srgbClr val="2A37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SP 800-57 Compliance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37744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 key strength against US National Standards.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1024-bit: INSECURE (Factorable by consumer PCs)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1024-bit: LEGACY (Disallowed since 2013; ~80-bit security)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2048-bit: SECURE (112-bit security baseline through 2030)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4096-bit: MILITARY GRADE (128-bit+ long-term security)
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161F30"/>
          </a:solidFill>
          <a:ln w="12700">
            <a:solidFill>
              <a:srgbClr val="2A37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874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Shannon Entropy Analysis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237744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 H(X) = -Σ P(xᵢ) · log₂(P(xᵢ))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Quantifies the randomness &amp; unpredictability of data.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Plaintext natural language: ~2.8 - 3.4 bits/character.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Ciphertext blocks: 3.8 - 4.2+ bits/char.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 strong confusion and diffusion preventing frequency analysis.
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161F30"/>
          </a:solidFill>
          <a:ln w="12700">
            <a:solidFill>
              <a:srgbClr val="2A37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874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Factoring &amp; Quantum Risk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75320" y="237744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Number Field Sieve (GNFS) complexity: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O(exp((c)(ln n)^(1/3)(ln ln n)^(2/3)))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operations required to deduce primes p and q.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vulnerability evaluation: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to Shor's Polynomial Algorithm O((log n)³).
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 &amp; TRADEOFFS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Cryptographic Matrix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RSA against Elliptic Curves, Symmetric Ciphers, and Post-Quantum standards.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 Cryptometer • Cryptography &amp; Network Security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1463040"/>
                <a:gridCol w="1645920"/>
                <a:gridCol w="164592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Family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Size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Security Level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Quantum Resistance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5B4FC"/>
                          </a:solidFill>
                        </a:rPr>
                        <a:t>RSA-2048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Asymmetric (Factoring)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2048 bits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112 bits (NIST)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Moderate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</a:rPr>
                        <a:t>Broken by Shor's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</a:rPr>
                        <a:t>ECC (P-256)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Asymmetric (Discrete Log)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256 bits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128 bits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Fast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</a:rPr>
                        <a:t>Broken by Shor's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</a:rPr>
                        <a:t>AES-256-GCM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Symmetric Block Cipher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256 bits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256 bits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</a:rPr>
                        <a:t>Ultra-Fast (Hardware)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</a:rPr>
                        <a:t>Resistant (Grover's: 128-bit)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84FC"/>
                          </a:solidFill>
                        </a:rPr>
                        <a:t>ML-KEM (Kyber-768)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Post-Quantum (Lattice)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1184 bytes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192 bits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Fast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</a:rPr>
                        <a:t>Quantum Resistant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7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3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4937760"/>
            <a:ext cx="10607040" cy="1097280"/>
          </a:xfrm>
          <a:prstGeom prst="roundRect">
            <a:avLst>
              <a:gd name="adj" fmla="val 8333"/>
            </a:avLst>
          </a:prstGeom>
          <a:solidFill>
            <a:srgbClr val="1E1B4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5074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Architectural Insight: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5349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Asymmetric ciphers (RSA/ECC) excel at zero-knowledge key establishment across unverified channels, but have high computational cost and payload limits. Symmetric ciphers (AES) provide gigabit-speed authenticated encryption. Therefore, production systems universally rely on Hybrid Cryptography.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Cryptosystem: The Digital Envelope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asymmetric bandwidth constraints by combining AES-256-GCM and RSA-OAEP.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 Cryptometer • Cryptography &amp; Network Security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161F3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Envelope Sealing (Sender)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Ephemeral Key Generation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random, single-use 256-bit symmetric session key K via crypto.getRandomValues().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Bulk Payload Encryption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bulk data M with AES-256-GCM using key K and unique 96-bit Initialization Vector (IV).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Session Key Wrapping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only the 256-bit key K using recipient's RSA Public Key (e, n) via RSA-OAEP.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Digital Envelope Transmission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Transmit bundle: [Wrapped Key + Ciphertext + IV + Auth Tag].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161F3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Envelope Opening (Recipient)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Unwrapping Session Key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Decrypt wrapped session key K using recipient's RSA Private Key (d, n).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Cryptographic Integrity Verification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GCM Authentication Tag. Any bit tampering aborts the decryption immediately.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High-Speed Bulk Decryption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Decrypt payload with hardware AES-NI instructions in sub-millisecond execution.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Ephemeral Key Zeroization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Symmetric key K is scrubbed from memory to maintain Forward Secrecy.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&amp;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Workbench Capabilities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suite of operational modules implemented in the live application.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 Cryptometer • Cryptography &amp; Network Security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161F30"/>
          </a:solidFill>
          <a:ln w="12700">
            <a:solidFill>
              <a:srgbClr val="2A37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Key Studio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0" y="1874520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87452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Engine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60120" y="233172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input of prime factors p &amp; q.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calculation of modulus n, totient φ(n), and public exponent e.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WebCrypto generator for 1024, 2048, and 4096-bit enterprise key pairs.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 raw SPKI Public &amp; PKCS#8 Private PEM certificates.
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64592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161F30"/>
          </a:solidFill>
          <a:ln w="12700">
            <a:solidFill>
              <a:srgbClr val="2A37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874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Split Cipher Panes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1874520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87452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 Visualizer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17720" y="233172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block chunking mapping text characters to modular numeric blocks.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exponentiation step-by-step telemetry table.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Synchronized encoding into Raw Integers, Hexadecimal, and Base64.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Single-click transfer into Decryption Pane with 100% round-trip fidelity.
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64592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161F30"/>
          </a:solidFill>
          <a:ln w="12700">
            <a:solidFill>
              <a:srgbClr val="2A37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1874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Math &amp; Proofs Studio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241280" y="1874520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0" y="187452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Euclid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75320" y="233172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Euclidean Algorithm interactive walkthrough table.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Bezout identity coefficients: a·e + b·φ(n) = gcd(e, φ(n)).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of modular multiplicative inverse: (e × d) mod φ(n) = 1.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proof step breakdown for student learning.
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EVALUATION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Performance Benchmarks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testing demonstrating mathematical correctness, entropy diffusion, and sub-millisecond latency.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 Cryptometer • Cryptography &amp; Network Security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161F30"/>
          </a:solidFill>
          <a:ln w="12700">
            <a:solidFill>
              <a:srgbClr val="2A37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Decryption Fidelity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bit-errors across thousands of arbitrary strings: Dec(Enc(M)) === M identically.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161F30"/>
          </a:solidFill>
          <a:ln w="12700">
            <a:solidFill>
              <a:srgbClr val="2A37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8745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+116% to +145%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2468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Shannon Entropy Gain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7889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input (~2.85 bits/char) diffuses to near-maximum entropy in ciphertext.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161F30"/>
          </a:solidFill>
          <a:ln w="12700">
            <a:solidFill>
              <a:srgbClr val="2A37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8745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0.25 ms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9600" y="2468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Latency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27889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modular exponentiation running in sub-millisecond execution time on standard browsers.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10607040" cy="2103120"/>
          </a:xfrm>
          <a:prstGeom prst="roundRect">
            <a:avLst>
              <a:gd name="adj" fmla="val 6522"/>
            </a:avLst>
          </a:prstGeom>
          <a:solidFill>
            <a:srgbClr val="161F30"/>
          </a:solidFill>
          <a:ln w="12700">
            <a:solidFill>
              <a:srgbClr val="2A37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114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Cryptographic Audit Findings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48056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Size vs Factoring Time: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Keys under 512 bits can be factored in seconds with ECM/QS. 1024-bit offers inadequate margin (~80-bit security). 2048-bit remains NIST compliant for general applications.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Entropy as a Quality Metric: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Shannon entropy proves whether an encryption scheme introduces sufficient diffusion; low ciphertext entropy indicates structural leakage or improper padding.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Post-Quantum Transition Imperative: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Because Shor's algorithm solves discrete log and factoring in polynomial time O((log n)³), organizations must plan hybrid migration to ML-KEM / Kyber.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Prospective Enhancements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cryptography education with production-grade security auditing.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 Cryptometer • Cryptography &amp; Network Security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023360"/>
          </a:xfrm>
          <a:prstGeom prst="roundRect">
            <a:avLst>
              <a:gd name="adj" fmla="val 3409"/>
            </a:avLst>
          </a:prstGeom>
          <a:solidFill>
            <a:srgbClr val="161F30"/>
          </a:solidFill>
          <a:ln w="12700">
            <a:solidFill>
              <a:srgbClr val="2A37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Contributions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Asymmetric Workbench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Constructed an accessible yet mathematically rigorous laboratory for RSA key generation, encryption, and decryption.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Cryptometer Metrics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NIST SP 800-57 ratings, Shannon entropy diffusion tracking, and GNFS factoring complexity calculations.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Hybrid Cryptography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the Digital Envelope model (AES-256-GCM + RSA) addressing asymmetric bandwidth limits.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120640" cy="4023360"/>
          </a:xfrm>
          <a:prstGeom prst="roundRect">
            <a:avLst>
              <a:gd name="adj" fmla="val 3409"/>
            </a:avLst>
          </a:prstGeom>
          <a:solidFill>
            <a:srgbClr val="161F30"/>
          </a:solidFill>
          <a:ln w="12700">
            <a:solidFill>
              <a:srgbClr val="2A37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&amp; Enhancements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Post-Quantum Cryptography (PQC) Modules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live simulations of NIST standardized lattice algorithms: ML-KEM (Kyber) and ML-DSA (Dilithium).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Security Modules (HSM)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WebAuthn and FIDO2 hardware token key storage and digital signature verification.</a:t>
            </a:r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Side-Channel Attack Visualizer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timing vulnerabilities and power analysis on naive modular exponentiation vs constant-time Montgomery ladder.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5806440"/>
            <a:ext cx="10607040" cy="640080"/>
          </a:xfrm>
          <a:prstGeom prst="roundRect">
            <a:avLst>
              <a:gd name="adj" fmla="val 14286"/>
            </a:avLst>
          </a:prstGeom>
          <a:solidFill>
            <a:srgbClr val="1E1B4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8978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Questions &amp; Technical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10</Slides>
	<Notes>10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10</vt:i4></vt:variant>
		</vt:vector>
	</HeadingPairs>
	<TitlesOfParts>
		<vt:vector size="13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
		</vt:vector>
	</TitlesOfParts>
	<Company>Computer Science & Cryptography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RSA Cryptometer &amp; Security Workbench</dc:title>
  <dc:subject>Cryptography &amp; Network Security Presentation</dc:subject>
  <dc:creator>RSA Cryptometer Team</dc:creator>
  <cp:lastModifiedBy>RSA Cryptometer Team</cp:lastModifiedBy>
  <cp:revision>1</cp:revision>
  <dcterms:created xsi:type="dcterms:W3CDTF">2026-09-19T19:50:41Z</dcterms:created>
  <dcterms:modified xsi:type="dcterms:W3CDTF">2026-09-19T19:50:41Z</dcterms:modified>
</cp:coreProperties>
</file>